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"/>
      <p:regular r:id="rId17"/>
    </p:embeddedFont>
    <p:embeddedFont>
      <p:font typeface="Gelasio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Lato"/>
      <p:regular r:id="rId21"/>
    </p:embeddedFont>
    <p:embeddedFont>
      <p:font typeface="Lato"/>
      <p:regular r:id="rId22"/>
    </p:embeddedFont>
    <p:embeddedFont>
      <p:font typeface="Lato"/>
      <p:regular r:id="rId23"/>
    </p:embeddedFont>
    <p:embeddedFont>
      <p:font typeface="La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Sales 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project analyzes transactional data from 3,900 purchases to uncover insights into spending patterns, customer segments, and product preferences.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766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Profile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83905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9737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Structure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46412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3,900 rows and 18 columns covering demographics, purchase details, and shopping behavior.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83905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9737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46412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Includes Age, Gender, Location, Item Purchased, Season, Review Rating, and Subscription Status.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83905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9737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Quality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46412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Generally clean dataset with only 37 missing values found in the Review Rating column.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8364"/>
            <a:ext cx="62387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Data Preparation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24730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602349"/>
            <a:ext cx="3664744" cy="30480"/>
          </a:xfrm>
          <a:prstGeom prst="rect">
            <a:avLst/>
          </a:prstGeom>
          <a:solidFill>
            <a:srgbClr val="FFD1CC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2776657"/>
            <a:ext cx="29269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Exploration &amp; Cleaning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3267075"/>
            <a:ext cx="366474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Loaded data via pandas, checked summary statistics, and imputed missing review ratings using category medians.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171748" y="224730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2602349"/>
            <a:ext cx="3664863" cy="30480"/>
          </a:xfrm>
          <a:prstGeom prst="rect">
            <a:avLst/>
          </a:prstGeom>
          <a:solidFill>
            <a:srgbClr val="FFD1CC"/>
          </a:solidFill>
          <a:ln/>
        </p:spPr>
      </p:sp>
      <p:sp>
        <p:nvSpPr>
          <p:cNvPr id="10" name="Text 7"/>
          <p:cNvSpPr/>
          <p:nvPr/>
        </p:nvSpPr>
        <p:spPr>
          <a:xfrm>
            <a:off x="10171748" y="2776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71748" y="3267075"/>
            <a:ext cx="36648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Created "age_group" bins and "purchase_frequency_days" columns while standardizing names to snake_case.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511552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470565"/>
            <a:ext cx="7556421" cy="30480"/>
          </a:xfrm>
          <a:prstGeom prst="rect">
            <a:avLst/>
          </a:prstGeom>
          <a:solidFill>
            <a:srgbClr val="FFD1CC"/>
          </a:solidFill>
          <a:ln/>
        </p:spPr>
      </p:sp>
      <p:sp>
        <p:nvSpPr>
          <p:cNvPr id="14" name="Text 11"/>
          <p:cNvSpPr/>
          <p:nvPr/>
        </p:nvSpPr>
        <p:spPr>
          <a:xfrm>
            <a:off x="6280190" y="56448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280190" y="61352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Verified data consistency, dropped redundant columns, and loaded the cleaned DataFrame into PostgreSQL.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175"/>
            <a:ext cx="59325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Demographics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6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Gender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16411"/>
            <a:ext cx="6244709" cy="32396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51691" y="5986582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A2A23"/>
          </a:solidFill>
          <a:ln/>
        </p:spPr>
      </p:sp>
      <p:sp>
        <p:nvSpPr>
          <p:cNvPr id="6" name="Text 3"/>
          <p:cNvSpPr/>
          <p:nvPr/>
        </p:nvSpPr>
        <p:spPr>
          <a:xfrm>
            <a:off x="3339465" y="5986582"/>
            <a:ext cx="500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992285" y="5986582"/>
            <a:ext cx="226814" cy="226814"/>
          </a:xfrm>
          <a:prstGeom prst="roundRect">
            <a:avLst>
              <a:gd name="adj" fmla="val 8063"/>
            </a:avLst>
          </a:prstGeom>
          <a:solidFill>
            <a:srgbClr val="8C8C76"/>
          </a:solidFill>
          <a:ln/>
        </p:spPr>
      </p:sp>
      <p:sp>
        <p:nvSpPr>
          <p:cNvPr id="8" name="Text 5"/>
          <p:cNvSpPr/>
          <p:nvPr/>
        </p:nvSpPr>
        <p:spPr>
          <a:xfrm>
            <a:off x="4280059" y="5986582"/>
            <a:ext cx="7171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Female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46854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Male customers generate significantly higher total revenue compared to female customers.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2106930"/>
            <a:ext cx="28547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Age Group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2716411"/>
            <a:ext cx="6244709" cy="34969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9521" y="646854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Young Adults contribute the most revenue, though spending is relatively balanced across groups.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502" y="786170"/>
            <a:ext cx="5532358" cy="69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Performance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4502" y="1809512"/>
            <a:ext cx="3686889" cy="2883337"/>
          </a:xfrm>
          <a:prstGeom prst="roundRect">
            <a:avLst>
              <a:gd name="adj" fmla="val 3223"/>
            </a:avLst>
          </a:prstGeom>
          <a:solidFill>
            <a:srgbClr val="E8E8E3"/>
          </a:solidFill>
          <a:ln w="7620">
            <a:solidFill>
              <a:srgbClr val="FFDBC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3340" y="2038350"/>
            <a:ext cx="663773" cy="663773"/>
          </a:xfrm>
          <a:prstGeom prst="roundRect">
            <a:avLst>
              <a:gd name="adj" fmla="val 13774416"/>
            </a:avLst>
          </a:prstGeom>
          <a:solidFill>
            <a:srgbClr val="FFDBC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863" y="2220754"/>
            <a:ext cx="298728" cy="2987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3340" y="2923342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Rated Items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003340" y="3401735"/>
            <a:ext cx="3229213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Gloves (3.86), Sandals (3.84), and Boots (3.82) hold the highest average customer ratings.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682609" y="1809512"/>
            <a:ext cx="3686889" cy="2883337"/>
          </a:xfrm>
          <a:prstGeom prst="roundRect">
            <a:avLst>
              <a:gd name="adj" fmla="val 3223"/>
            </a:avLst>
          </a:prstGeom>
          <a:solidFill>
            <a:srgbClr val="E8E8E3"/>
          </a:solidFill>
          <a:ln w="7620">
            <a:solidFill>
              <a:srgbClr val="FFDB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11447" y="2038350"/>
            <a:ext cx="663773" cy="663773"/>
          </a:xfrm>
          <a:prstGeom prst="roundRect">
            <a:avLst>
              <a:gd name="adj" fmla="val 13774416"/>
            </a:avLst>
          </a:prstGeom>
          <a:solidFill>
            <a:srgbClr val="FFDBC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3970" y="2220754"/>
            <a:ext cx="298728" cy="2987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1447" y="2923342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Clothing Leaders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4911447" y="3401735"/>
            <a:ext cx="3229213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Blouses and Pants are the top-selling items within the Clothing category, with 171 orders each.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74502" y="4914067"/>
            <a:ext cx="7594997" cy="2529245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7620">
            <a:solidFill>
              <a:srgbClr val="FFDBC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03340" y="5142905"/>
            <a:ext cx="663773" cy="663773"/>
          </a:xfrm>
          <a:prstGeom prst="roundRect">
            <a:avLst>
              <a:gd name="adj" fmla="val 13774416"/>
            </a:avLst>
          </a:prstGeom>
          <a:solidFill>
            <a:srgbClr val="FFDBC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5863" y="5325308"/>
            <a:ext cx="298728" cy="2987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3340" y="6027896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Accessories Leaders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1003340" y="6506289"/>
            <a:ext cx="7137321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Jewelry leads the accessories category with 171 orders, followed closely by Sunglasses.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175"/>
            <a:ext cx="75667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 &amp; Discount Behavior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6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 Type Spend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16411"/>
            <a:ext cx="6244709" cy="34969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646854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choosing Express shipping have a slightly higher average purchase amount.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2106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Discount Dependency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268807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Certain products rely heavily on discounts to drive sales. The top items with the highest percentage of discounted purchases include: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39808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50.00%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44230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Sneakers: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49.66%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48652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Coat: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49.07%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53074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Sweater: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48.17%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27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Subscription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509486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27%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091809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Subscriber Base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26804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Only 1,053 customers are subscribers, compared to 2,847 non-subscribers.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509486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$59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091809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Spend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2680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Spending is nearly identical between subscribers ($59.49) and non-subscribers ($59.87).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509486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38%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091809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Repeat Buyers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2680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 repeat buyers with &gt;5 purchases, only 958 are subscribed, leaving 2,518 non-subscribed.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60524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98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classified customers based on purchase history. The vast majority of the customer base falls into the "Loyal" segment.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987873"/>
            <a:ext cx="2152055" cy="13069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94892" y="360390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357217" y="3214688"/>
            <a:ext cx="19747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57217" y="3705106"/>
            <a:ext cx="19747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187077" y="4307919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FFEDB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4351496"/>
            <a:ext cx="4304109" cy="13069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94892" y="480560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433304" y="4578310"/>
            <a:ext cx="26864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Returning Customers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433304" y="5068729"/>
            <a:ext cx="26864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6263164" y="5671542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FFEDB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715119"/>
            <a:ext cx="6456164" cy="13069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94773" y="616922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1"/>
          <p:cNvSpPr/>
          <p:nvPr/>
        </p:nvSpPr>
        <p:spPr>
          <a:xfrm>
            <a:off x="7509272" y="5941933"/>
            <a:ext cx="2098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509272" y="6432352"/>
            <a:ext cx="20985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3,116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070" y="587812"/>
            <a:ext cx="9860280" cy="573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070" y="6638687"/>
            <a:ext cx="5344001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48070" y="7627263"/>
            <a:ext cx="13134261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interactive view of the insights, visualizing demographics, product performance, and revenue metrics.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098"/>
            <a:ext cx="70524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7505"/>
            <a:ext cx="6407944" cy="1685092"/>
          </a:xfrm>
          <a:prstGeom prst="roundRect">
            <a:avLst>
              <a:gd name="adj" fmla="val 32306"/>
            </a:avLst>
          </a:prstGeom>
          <a:solidFill>
            <a:srgbClr val="FFAD94"/>
          </a:solidFill>
          <a:ln w="7620">
            <a:solidFill>
              <a:srgbClr val="E593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Promote exclusive benefits to convert the large non-subscriber base.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97505"/>
            <a:ext cx="6408063" cy="1685092"/>
          </a:xfrm>
          <a:prstGeom prst="roundRect">
            <a:avLst>
              <a:gd name="adj" fmla="val 32306"/>
            </a:avLst>
          </a:prstGeom>
          <a:solidFill>
            <a:srgbClr val="FFAD94"/>
          </a:solidFill>
          <a:ln w="7620">
            <a:solidFill>
              <a:srgbClr val="E593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Reward repeat buyers to solidify the "Loyal" segment and encourage retention.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85092"/>
          </a:xfrm>
          <a:prstGeom prst="roundRect">
            <a:avLst>
              <a:gd name="adj" fmla="val 32306"/>
            </a:avLst>
          </a:prstGeom>
          <a:solidFill>
            <a:srgbClr val="FFAD94"/>
          </a:solidFill>
          <a:ln w="7620">
            <a:solidFill>
              <a:srgbClr val="E593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 Discounts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53426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sales boosts with margin control, especially for high-discount items like Hats.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85092"/>
          </a:xfrm>
          <a:prstGeom prst="roundRect">
            <a:avLst>
              <a:gd name="adj" fmla="val 32306"/>
            </a:avLst>
          </a:prstGeom>
          <a:solidFill>
            <a:srgbClr val="FFAD94"/>
          </a:solidFill>
          <a:ln w="7620">
            <a:solidFill>
              <a:srgbClr val="E593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53426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efforts on high-revenue age groups (Young Adults) and express-shipping users.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2025-12-06T02:38:40Z</dcterms:created>
  <dcterms:modified xsi:type="dcterms:W3CDTF">2025-12-06T02:38:40Z</dcterms:modified>
</cp:coreProperties>
</file>